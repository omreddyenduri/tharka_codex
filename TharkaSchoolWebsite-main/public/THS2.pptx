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d799585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5d799585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d7995854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5d7995854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5d7995854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5d7995854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5d7995854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5d7995854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5d7995854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5d7995854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b1d60433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b1d60433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b1d60433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b1d60433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b1d604331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b1d60433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bc8c60b0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bc8c60b0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c8c60b0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bc8c60b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Education 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428175" y="3243025"/>
            <a:ext cx="3587100" cy="7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E. Ramanji Reddy</a:t>
            </a:r>
            <a:endParaRPr sz="2094"/>
          </a:p>
        </p:txBody>
      </p:sp>
      <p:sp>
        <p:nvSpPr>
          <p:cNvPr id="56" name="Google Shape;56;p13"/>
          <p:cNvSpPr txBox="1"/>
          <p:nvPr/>
        </p:nvSpPr>
        <p:spPr>
          <a:xfrm>
            <a:off x="4497075" y="1693100"/>
            <a:ext cx="46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rabicPeriod"/>
            </a:pPr>
            <a:r>
              <a:rPr lang="en-GB">
                <a:solidFill>
                  <a:srgbClr val="FF0000"/>
                </a:solidFill>
              </a:rPr>
              <a:t>MisAlignment with Job Industry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62" name="Google Shape;62;p14" title="misaligned_brid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963" y="1349049"/>
            <a:ext cx="4791075" cy="32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 rot="-1366178">
            <a:off x="953482" y="2652781"/>
            <a:ext cx="1589036" cy="40684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IIT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 rot="-1771361">
            <a:off x="175584" y="2756304"/>
            <a:ext cx="1084283" cy="4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Schools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 rot="-2122283">
            <a:off x="5277785" y="2099698"/>
            <a:ext cx="1369728" cy="94412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SKILLS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 rot="-1771203">
            <a:off x="6467780" y="1908523"/>
            <a:ext cx="1649997" cy="4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FF00"/>
                </a:solidFill>
              </a:rPr>
              <a:t>Companies</a:t>
            </a:r>
            <a:endParaRPr sz="18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rabicPeriod"/>
            </a:pPr>
            <a:r>
              <a:rPr lang="en-GB">
                <a:solidFill>
                  <a:srgbClr val="FF0000"/>
                </a:solidFill>
              </a:rPr>
              <a:t>Reasons for Misalignment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72" name="Google Shape;72;p15" title="misaligned_brid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3457" y="445025"/>
            <a:ext cx="1699841" cy="1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 rot="-1545161">
            <a:off x="6334296" y="978164"/>
            <a:ext cx="577232" cy="16296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6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50" lIns="63750" spcFirstLastPara="1" rIns="63750" wrap="square" tIns="6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76"/>
              <a:t>IIT</a:t>
            </a:r>
            <a:endParaRPr sz="576"/>
          </a:p>
        </p:txBody>
      </p:sp>
      <p:sp>
        <p:nvSpPr>
          <p:cNvPr id="74" name="Google Shape;74;p15"/>
          <p:cNvSpPr/>
          <p:nvPr/>
        </p:nvSpPr>
        <p:spPr>
          <a:xfrm rot="-2352967">
            <a:off x="7862351" y="759119"/>
            <a:ext cx="511509" cy="36882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6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50" lIns="63750" spcFirstLastPara="1" rIns="63750" wrap="square" tIns="6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76"/>
              <a:t>SKILLS</a:t>
            </a:r>
            <a:endParaRPr sz="676"/>
          </a:p>
        </p:txBody>
      </p:sp>
      <p:sp>
        <p:nvSpPr>
          <p:cNvPr id="75" name="Google Shape;75;p15"/>
          <p:cNvSpPr txBox="1"/>
          <p:nvPr/>
        </p:nvSpPr>
        <p:spPr>
          <a:xfrm>
            <a:off x="311700" y="1456975"/>
            <a:ext cx="8223600" cy="3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❖"/>
            </a:pPr>
            <a:r>
              <a:rPr lang="en-GB" sz="2500">
                <a:solidFill>
                  <a:schemeClr val="lt2"/>
                </a:solidFill>
              </a:rPr>
              <a:t>No academic - industry shuffle</a:t>
            </a:r>
            <a:endParaRPr sz="25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2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➢"/>
            </a:pPr>
            <a:r>
              <a:rPr lang="en-GB" sz="1900">
                <a:solidFill>
                  <a:schemeClr val="lt2"/>
                </a:solidFill>
              </a:rPr>
              <a:t>Schools have no idea what industry wants</a:t>
            </a:r>
            <a:endParaRPr sz="1900">
              <a:solidFill>
                <a:schemeClr val="lt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➢"/>
            </a:pPr>
            <a:r>
              <a:rPr lang="en-GB" sz="1900">
                <a:solidFill>
                  <a:schemeClr val="lt2"/>
                </a:solidFill>
              </a:rPr>
              <a:t>Schools overhype what they can deliver (IIT/NEET)</a:t>
            </a:r>
            <a:endParaRPr sz="1900">
              <a:solidFill>
                <a:schemeClr val="lt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➢"/>
            </a:pPr>
            <a:r>
              <a:rPr lang="en-GB" sz="1900">
                <a:solidFill>
                  <a:schemeClr val="lt2"/>
                </a:solidFill>
              </a:rPr>
              <a:t>Faculty teaches </a:t>
            </a:r>
            <a:r>
              <a:rPr lang="en-GB" sz="1900">
                <a:solidFill>
                  <a:schemeClr val="lt2"/>
                </a:solidFill>
              </a:rPr>
              <a:t>what</a:t>
            </a:r>
            <a:r>
              <a:rPr lang="en-GB" sz="1900">
                <a:solidFill>
                  <a:schemeClr val="lt2"/>
                </a:solidFill>
              </a:rPr>
              <a:t> they learn at school</a:t>
            </a:r>
            <a:endParaRPr sz="1900">
              <a:solidFill>
                <a:schemeClr val="lt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➢"/>
            </a:pPr>
            <a:r>
              <a:rPr lang="en-GB" sz="1900">
                <a:solidFill>
                  <a:schemeClr val="lt2"/>
                </a:solidFill>
              </a:rPr>
              <a:t>No one from industry come back to teaching</a:t>
            </a:r>
            <a:endParaRPr sz="19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2. Memorization Vs Thinking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97125" y="1392400"/>
            <a:ext cx="4358100" cy="3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❖"/>
            </a:pPr>
            <a:r>
              <a:rPr lang="en-GB" sz="1800">
                <a:solidFill>
                  <a:schemeClr val="lt2"/>
                </a:solidFill>
              </a:rPr>
              <a:t>Over Emphasis on Memorizing</a:t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-GB" sz="1800">
                <a:solidFill>
                  <a:schemeClr val="lt2"/>
                </a:solidFill>
              </a:rPr>
              <a:t>Teaching too much of theory</a:t>
            </a:r>
            <a:endParaRPr sz="1800">
              <a:solidFill>
                <a:schemeClr val="lt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-GB" sz="1800">
                <a:solidFill>
                  <a:schemeClr val="lt2"/>
                </a:solidFill>
              </a:rPr>
              <a:t>Lot of time in </a:t>
            </a:r>
            <a:r>
              <a:rPr lang="en-GB" sz="1800">
                <a:solidFill>
                  <a:schemeClr val="lt2"/>
                </a:solidFill>
              </a:rPr>
              <a:t>writing material</a:t>
            </a:r>
            <a:endParaRPr sz="1800">
              <a:solidFill>
                <a:schemeClr val="lt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-GB" sz="1800">
                <a:solidFill>
                  <a:schemeClr val="lt2"/>
                </a:solidFill>
              </a:rPr>
              <a:t>No scope or time for</a:t>
            </a:r>
            <a:endParaRPr sz="1800">
              <a:solidFill>
                <a:schemeClr val="lt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■"/>
            </a:pPr>
            <a:r>
              <a:rPr lang="en-GB" sz="1800">
                <a:solidFill>
                  <a:schemeClr val="lt2"/>
                </a:solidFill>
              </a:rPr>
              <a:t>Critical Thinking</a:t>
            </a:r>
            <a:endParaRPr sz="1800">
              <a:solidFill>
                <a:schemeClr val="lt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■"/>
            </a:pPr>
            <a:r>
              <a:rPr lang="en-GB" sz="1800">
                <a:solidFill>
                  <a:schemeClr val="lt2"/>
                </a:solidFill>
              </a:rPr>
              <a:t>Fun with Creativity</a:t>
            </a:r>
            <a:endParaRPr sz="1800">
              <a:solidFill>
                <a:schemeClr val="lt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■"/>
            </a:pPr>
            <a:r>
              <a:rPr lang="en-GB" sz="1800">
                <a:solidFill>
                  <a:schemeClr val="lt2"/>
                </a:solidFill>
              </a:rPr>
              <a:t>Reasoning Skills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82" name="Google Shape;82;p16" title="brain_memory_thinking_edit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625" y="1170125"/>
            <a:ext cx="382097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>
                <a:solidFill>
                  <a:srgbClr val="FF0000"/>
                </a:solidFill>
              </a:rPr>
              <a:t>3. </a:t>
            </a:r>
            <a:r>
              <a:rPr lang="en-GB" sz="2020">
                <a:solidFill>
                  <a:srgbClr val="FF0000"/>
                </a:solidFill>
              </a:rPr>
              <a:t>Outdated after 16 years of schooling — where did education go wrong</a:t>
            </a:r>
            <a:endParaRPr sz="2020">
              <a:solidFill>
                <a:srgbClr val="FF0000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97125" y="1392400"/>
            <a:ext cx="4992900" cy="3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❖"/>
            </a:pPr>
            <a:r>
              <a:rPr lang="en-GB" sz="1800">
                <a:solidFill>
                  <a:schemeClr val="lt2"/>
                </a:solidFill>
              </a:rPr>
              <a:t>Static Curriculum</a:t>
            </a:r>
            <a:endParaRPr sz="1800">
              <a:solidFill>
                <a:schemeClr val="l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-GB" sz="1800">
                <a:solidFill>
                  <a:schemeClr val="lt2"/>
                </a:solidFill>
              </a:rPr>
              <a:t>No major changes in last 100 years</a:t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❖"/>
            </a:pPr>
            <a:r>
              <a:rPr lang="en-GB" sz="1800">
                <a:solidFill>
                  <a:schemeClr val="lt2"/>
                </a:solidFill>
              </a:rPr>
              <a:t>No exposure to technical advancements</a:t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❖"/>
            </a:pPr>
            <a:r>
              <a:rPr lang="en-GB" sz="1800">
                <a:solidFill>
                  <a:schemeClr val="lt2"/>
                </a:solidFill>
              </a:rPr>
              <a:t>Losing confidence in IIT race</a:t>
            </a:r>
            <a:endParaRPr sz="1800">
              <a:solidFill>
                <a:schemeClr val="l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-GB" sz="1800">
                <a:solidFill>
                  <a:schemeClr val="lt2"/>
                </a:solidFill>
              </a:rPr>
              <a:t>98% applicants </a:t>
            </a:r>
            <a:r>
              <a:rPr lang="en-GB" sz="1800">
                <a:solidFill>
                  <a:schemeClr val="lt2"/>
                </a:solidFill>
              </a:rPr>
              <a:t>don't</a:t>
            </a:r>
            <a:r>
              <a:rPr lang="en-GB" sz="1800">
                <a:solidFill>
                  <a:schemeClr val="lt2"/>
                </a:solidFill>
              </a:rPr>
              <a:t> get into IIT/NIT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❖"/>
            </a:pPr>
            <a:r>
              <a:rPr lang="en-GB" sz="1800">
                <a:solidFill>
                  <a:schemeClr val="lt2"/>
                </a:solidFill>
              </a:rPr>
              <a:t>No grounds. No time to play</a:t>
            </a:r>
            <a:endParaRPr sz="1800">
              <a:solidFill>
                <a:schemeClr val="l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➢"/>
            </a:pPr>
            <a:r>
              <a:rPr lang="en-GB" sz="1800">
                <a:solidFill>
                  <a:schemeClr val="lt2"/>
                </a:solidFill>
              </a:rPr>
              <a:t>Low physical/mental health</a:t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89" name="Google Shape;89;p17" title="cement worker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725" y="1220250"/>
            <a:ext cx="3534126" cy="353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change begins with a first step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2300" y="19350"/>
            <a:ext cx="945988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311700" y="1435450"/>
            <a:ext cx="8520600" cy="13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Tharka High School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11700" y="3178450"/>
            <a:ext cx="8520600" cy="14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A meaningful alternative to conventional education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2026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Relevant Curriculum with Industry Skills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Covering Basics Right (daily one hour in computer Lab)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7340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-GB" sz="1600"/>
              <a:t>How things Work? </a:t>
            </a:r>
            <a:endParaRPr sz="1600"/>
          </a:p>
          <a:p>
            <a:pPr indent="-307339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600"/>
              <a:t>Electronics (Hardware), Computers (Software), Internet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-GB" sz="1600"/>
              <a:t>Computer Operation for Daily Life</a:t>
            </a:r>
            <a:endParaRPr sz="1600"/>
          </a:p>
          <a:p>
            <a:pPr indent="-307339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600"/>
              <a:t>Typing, word/excel/PPT, Mail, Audio/Video basics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-GB" sz="1600"/>
              <a:t>Programming Languages (C++, Java, Python)</a:t>
            </a:r>
            <a:endParaRPr sz="1600"/>
          </a:p>
          <a:p>
            <a:pPr indent="-307339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600"/>
              <a:t>Exposure to LLMs (ChatGPT, Cursor) for vibe coding</a:t>
            </a:r>
            <a:endParaRPr sz="16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07340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-GB" sz="1600"/>
              <a:t>Strong foundation in Data Structures Algorithms (DSA)</a:t>
            </a:r>
            <a:endParaRPr sz="1600"/>
          </a:p>
          <a:p>
            <a:pPr indent="-307339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600"/>
              <a:t>Leetcode, Codeforces, Programming Olympiad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-GB" sz="1600"/>
              <a:t>AI/ML Math Foundation</a:t>
            </a:r>
            <a:endParaRPr sz="1600"/>
          </a:p>
          <a:p>
            <a:pPr indent="-317182" lvl="2" marL="1371600" rtl="0" algn="l">
              <a:spcBef>
                <a:spcPts val="0"/>
              </a:spcBef>
              <a:spcAft>
                <a:spcPts val="0"/>
              </a:spcAft>
              <a:buSzPct val="112500"/>
              <a:buChar char="■"/>
            </a:pPr>
            <a:r>
              <a:rPr lang="en-GB" sz="1600"/>
              <a:t>Beginner level projects in Data Science</a:t>
            </a:r>
            <a:r>
              <a:rPr lang="en-GB"/>
              <a:t> </a:t>
            </a:r>
            <a:endParaRPr/>
          </a:p>
        </p:txBody>
      </p:sp>
      <p:pic>
        <p:nvPicPr>
          <p:cNvPr id="112" name="Google Shape;112;p21" title="cement worker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850" y="0"/>
            <a:ext cx="2093151" cy="2093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1"/>
          <p:cNvGrpSpPr/>
          <p:nvPr/>
        </p:nvGrpSpPr>
        <p:grpSpPr>
          <a:xfrm>
            <a:off x="7048492" y="3050385"/>
            <a:ext cx="2093148" cy="2093202"/>
            <a:chOff x="7046345" y="3479479"/>
            <a:chExt cx="2093148" cy="1642500"/>
          </a:xfrm>
        </p:grpSpPr>
        <p:pic>
          <p:nvPicPr>
            <p:cNvPr id="114" name="Google Shape;114;p21" title="misaligned_bridge.jp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46345" y="3479479"/>
              <a:ext cx="2093148" cy="164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21"/>
            <p:cNvSpPr/>
            <p:nvPr/>
          </p:nvSpPr>
          <p:spPr>
            <a:xfrm rot="-1544583">
              <a:off x="7097611" y="4254416"/>
              <a:ext cx="710740" cy="200638"/>
            </a:xfrm>
            <a:prstGeom prst="rightArrow">
              <a:avLst>
                <a:gd fmla="val 50000" name="adj1"/>
                <a:gd fmla="val 22566" name="adj2"/>
              </a:avLst>
            </a:prstGeom>
            <a:solidFill>
              <a:srgbClr val="FF0000"/>
            </a:solidFill>
            <a:ln cap="flat" cmpd="sng" w="8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9"/>
                <a:t>IIT</a:t>
              </a:r>
              <a:endParaRPr sz="709"/>
            </a:p>
          </p:txBody>
        </p:sp>
        <p:sp>
          <p:nvSpPr>
            <p:cNvPr id="116" name="Google Shape;116;p21"/>
            <p:cNvSpPr/>
            <p:nvPr/>
          </p:nvSpPr>
          <p:spPr>
            <a:xfrm rot="-2352065">
              <a:off x="8291994" y="3931795"/>
              <a:ext cx="629861" cy="243941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0FF00"/>
            </a:solidFill>
            <a:ln cap="flat" cmpd="sng" w="8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32"/>
                <a:t>SKILLS</a:t>
              </a:r>
              <a:endParaRPr sz="832"/>
            </a:p>
          </p:txBody>
        </p:sp>
      </p:grpSp>
      <p:sp>
        <p:nvSpPr>
          <p:cNvPr id="117" name="Google Shape;117;p21"/>
          <p:cNvSpPr/>
          <p:nvPr/>
        </p:nvSpPr>
        <p:spPr>
          <a:xfrm>
            <a:off x="636725" y="1848375"/>
            <a:ext cx="5328900" cy="1295700"/>
          </a:xfrm>
          <a:prstGeom prst="bracePair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634677" y="3382350"/>
            <a:ext cx="5328900" cy="988800"/>
          </a:xfrm>
          <a:prstGeom prst="bracePair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cxnSp>
        <p:nvCxnSpPr>
          <p:cNvPr id="119" name="Google Shape;119;p21"/>
          <p:cNvCxnSpPr/>
          <p:nvPr/>
        </p:nvCxnSpPr>
        <p:spPr>
          <a:xfrm flipH="1" rot="10800000">
            <a:off x="6128600" y="1668050"/>
            <a:ext cx="892500" cy="549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/>
          <p:nvPr/>
        </p:nvCxnSpPr>
        <p:spPr>
          <a:xfrm>
            <a:off x="6068550" y="3650400"/>
            <a:ext cx="952500" cy="1716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Reshaping existing curriculum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575325"/>
            <a:ext cx="8520600" cy="29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Prioritizing Maths/Physics/Chemistry for competitive exams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Focus more on concepts, encourage bullet point learning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Remove unnecessary writing and memorization time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Prioritizing Skills and Sports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/>
              <a:t>Mandatory daily session for sports and Arts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/>
              <a:t>Sports: BasketBall, VolleyBall, ThrowBall, KhoKho, Athletics (1.5 Acre Ground)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/>
              <a:t>Arts: Dancing, Singling, Violin, Keyboard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/>
              <a:t>Soft Skills training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/>
              <a:t>Spoken English, Public Speaking, Communication and Body Language Fundamentals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-GB"/>
              <a:t>Hostlers: Safety is the utmost priority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/>
              <a:t>Food with </a:t>
            </a:r>
            <a:r>
              <a:rPr lang="en-GB"/>
              <a:t>homemade</a:t>
            </a:r>
            <a:r>
              <a:rPr lang="en-GB"/>
              <a:t> organic products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/>
              <a:t>Hostel located inside the school, with proper </a:t>
            </a:r>
            <a:r>
              <a:rPr lang="en-GB"/>
              <a:t>compound wall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